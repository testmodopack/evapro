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0"/>
            <a:ext cx="384048" cy="4572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4663440"/>
            <a:ext cx="384048" cy="82296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206240"/>
            <a:ext cx="384048" cy="128016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39" y="3657600"/>
            <a:ext cx="384048" cy="18288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3017520"/>
            <a:ext cx="384048" cy="246888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2286000"/>
            <a:ext cx="384048" cy="32004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9" y="1463039"/>
            <a:ext cx="384048" cy="4023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ASCENDA SPA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3774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4D87A"/>
                </a:solidFill>
                <a:latin typeface="Calibri"/>
              </a:rPr>
              <a:t>EVA360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3703320"/>
            <a:ext cx="32004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8404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Gestión del desempeño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8C8CF"/>
                </a:solidFill>
                <a:latin typeface="Calibri"/>
              </a:rPr>
              <a:t>Una sola plataforma. Todo el ciclo de personas.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577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8A92"/>
                </a:solidFill>
                <a:latin typeface="Calibri"/>
              </a:rPr>
              <a:t>Presentación institucional · Nuevos usuarios + Inversionistas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943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ricardo@ascenda.cl  ·  ascenda.cl  ·  Santiago,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El problema que resolvemos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Las empresas evalúan a sus personas mal, tarde y caro.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● </a:t>
            </a:r>
            <a:r>
              <a:rPr sz="1500">
                <a:solidFill>
                  <a:srgbClr val="C8C8CF"/>
                </a:solidFill>
                <a:latin typeface="Calibri"/>
              </a:rPr>
              <a:t>78% de los empleados desconfía de la evaluación tradicional (Gallup, 2024).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● </a:t>
            </a:r>
            <a:r>
              <a:rPr sz="1500">
                <a:solidFill>
                  <a:srgbClr val="C8C8CF"/>
                </a:solidFill>
                <a:latin typeface="Calibri"/>
              </a:rPr>
              <a:t>Procesos manuales en Excel y Forms generan sesgo, baja participación y datos no accionables.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● </a:t>
            </a:r>
            <a:r>
              <a:rPr sz="1500">
                <a:solidFill>
                  <a:srgbClr val="C8C8CF"/>
                </a:solidFill>
                <a:latin typeface="Calibri"/>
              </a:rPr>
              <a:t>Soluciones enterprise (Workday, Lattice, Culture Amp) cuestan USD $20–50/empleado/mes — inalcanzables para pymes LATAM.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● </a:t>
            </a:r>
            <a:r>
              <a:rPr sz="1500">
                <a:solidFill>
                  <a:srgbClr val="C8C8CF"/>
                </a:solidFill>
                <a:latin typeface="Calibri"/>
              </a:rPr>
              <a:t>Resultado: rotación 25% mayor y planes de desarrollo (PDI) que nunca se ejecutan.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● </a:t>
            </a:r>
            <a:r>
              <a:rPr sz="1500">
                <a:solidFill>
                  <a:srgbClr val="C8C8CF"/>
                </a:solidFill>
                <a:latin typeface="Calibri"/>
              </a:rPr>
              <a:t>Líderes toman decisiones a ciegas; RR.HH. invierte semanas armando reportes que nadie lee.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920240"/>
            <a:ext cx="3931920" cy="41148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920240"/>
            <a:ext cx="73152" cy="4114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057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D87A"/>
                </a:solidFill>
                <a:latin typeface="Calibri"/>
              </a:rPr>
              <a:t>INSIGHT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468880"/>
            <a:ext cx="3566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C8C8CF"/>
                </a:solidFill>
                <a:latin typeface="Calibri"/>
              </a:rPr>
              <a:t>El problema no es la falta de herramientas.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C8C8C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C8C8CF"/>
                </a:solidFill>
                <a:latin typeface="Calibri"/>
              </a:rPr>
              <a:t>Es que las herramientas existentes no fueron diseñadas para empresas latinoamericanas de 50–500 empleados.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C8C8C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C8C8CF"/>
                </a:solidFill>
                <a:latin typeface="Calibri"/>
              </a:rPr>
              <a:t>EVA360 nació para ese vacío.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02 ·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Qué es EVA360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Una plataforma SaaS B2B integral. Reemplaza Excel + 4 herramientas separadas.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1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Evaluaciones 360°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7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Configurables por cargo, área y nivel.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74519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1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OKRs y 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41447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Con seguimiento, calibración y check-ins.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39111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Feedback continuo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41447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1-on-1 estructurados + agendas 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73551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73551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38143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PDI personalizados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79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Generados con IA a partir del perfil.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273551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73551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38143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Encuestas de clima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40479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Mood check-ins semanales de 10 segundos.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273551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73551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438143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Reconocimientos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79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Badges, kudos y reconocimiento social.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72583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72583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3717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Insights con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39511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Detección de riesgo de fuga + brechas.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672583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672583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83717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Calibración + 9-box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239511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Analytics de equipo y rotación.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672583"/>
            <a:ext cx="3703320" cy="1234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672583"/>
            <a:ext cx="37033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837175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Reclutamiento + 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239511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Postulantes integrados al ciclo.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03 ·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 que ya está funcionando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EVA360 no es una promesa: es producto operativo en producción.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2697480" cy="1554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399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Calibr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39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Controllers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5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92"/>
                </a:solidFill>
                <a:latin typeface="Calibri"/>
              </a:rPr>
              <a:t>NestJS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874519"/>
            <a:ext cx="2697480" cy="1554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057399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Calibri"/>
              </a:rP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34639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Páginas UI activas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0895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92"/>
                </a:solidFill>
                <a:latin typeface="Calibri"/>
              </a:rPr>
              <a:t>Next.js 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74519"/>
            <a:ext cx="2697480" cy="1554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57399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Calibri"/>
              </a:rPr>
              <a:t>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39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Entidades de dominio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10895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92"/>
                </a:solidFill>
                <a:latin typeface="Calibri"/>
              </a:rPr>
              <a:t>PostgreSQL + RLS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874519"/>
            <a:ext cx="2697480" cy="1554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057399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D4AF37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834639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Multi-tenant aislado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10895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92"/>
                </a:solidFill>
                <a:latin typeface="Calibri"/>
              </a:rPr>
              <a:t>Row-Level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Capacidades en producción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Integración productiva con Anthropic Claude SDK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PWA instalable + Push notifications nativas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2FA + JWT + auditoría cross-tenant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Suscripciones, planes y add-ons IA con Stripe + MercadoPago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Documentación legal completa (T&amp;C, DPA, SLA, NDA, Privacidad)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Multi-tenant con RLS validado en PostgreSQL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Observabilidad con Sentry + métricas internas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Demo público: eva360.ascenda.cl/demo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04 · USUARIOS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Diseñado para tres audiencias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Una experiencia diferente por rol, sobre una sola plataforma.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657600" cy="41148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65760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0B0F"/>
                </a:solidFill>
                <a:latin typeface="Calibri"/>
              </a:rPr>
              <a:t>EL COLABORADOR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19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Dashboard personal con evaluaciones, objetivos y PDI.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Mood check-ins de 10 segundos por semana.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Reconocimientos públicos para celebrar logros.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Notificaciones inteligentes — sin spam.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3657600" cy="41148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65760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47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0B0F"/>
                </a:solidFill>
                <a:latin typeface="Calibri"/>
              </a:rPr>
              <a:t>EL LÍDER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19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Vista 360° del equipo: desempeño, riesgo, atrasos.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Streaks de liderazgo: hábitos sanos gamificados.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1-on-1 con agenda automática + notas IA.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Calibración asistida con 9-box.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74519"/>
            <a:ext cx="3657600" cy="41148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74519"/>
            <a:ext cx="365760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47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0B0F"/>
                </a:solidFill>
                <a:latin typeface="Calibri"/>
              </a:rPr>
              <a:t>RECURSOS HUMANOS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19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Ciclos lanzados en minutos, no semanas.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Plantillas configurables por cargo y nivel.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Insights agregados: brechas, DEI, rotación, NPS.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Auditoría completa de cada calificación.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05 · DIFERENCIAL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IA con Claude — embebida, no pegada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La IA está en los flujos críticos del negocio, no en un chatbot lateral.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Análisis de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Convierte texto libre en competencias accionables.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PDI personalizado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Genera planes de desarrollo desde fortalezas y brechas.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Riesgo de fuga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Alertas tempranas con señales de mood + desempeño.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Resúmenes ejecutivos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Cierre de ciclo en una página, automático.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Sugerencias OKR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Objetivos alineados con la estrategia organizacional.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89120"/>
            <a:ext cx="5486400" cy="10972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89120"/>
            <a:ext cx="54864" cy="10972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Análisis DEI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92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Detección de sesgo en evaluaciones y promociones.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4AF37"/>
                </a:solidFill>
                <a:latin typeface="Calibri"/>
              </a:rPr>
              <a:t>Modelo de costos: créditos IA por uso. El cliente paga solo lo que consume.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06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Stack moderno + seguridad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Multi-tenant real con aislamiento a nivel base de datos.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2194560" cy="4572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84247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0B0F"/>
                </a:solidFill>
                <a:latin typeface="Calibri"/>
              </a:rPr>
              <a:t>CAPA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74519"/>
            <a:ext cx="4572000" cy="4572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8424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0B0F"/>
                </a:solidFill>
                <a:latin typeface="Calibri"/>
              </a:rPr>
              <a:t>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74519"/>
            <a:ext cx="4572000" cy="4572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98424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0B0F"/>
                </a:solidFill>
                <a:latin typeface="Calibri"/>
              </a:rPr>
              <a:t>GARANTÍA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19"/>
            <a:ext cx="219456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317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4505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Next.js 14 + React + 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3317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4505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PWA, SEO,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19"/>
            <a:ext cx="219456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077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889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9077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NestJS 11 + TypeORM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7889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9077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API REST documentada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46119"/>
            <a:ext cx="219456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649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Base de datos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461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3649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PostgreSQL + Row-Level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2461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3649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Aislamiento multi-tenant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19"/>
            <a:ext cx="219456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8221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7033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8221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Anthropic Claude SDK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7033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38221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 entrena con datos del cliente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60519"/>
            <a:ext cx="219456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793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Pagos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1605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2793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Stripe + MercadoPago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1605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0" y="42793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Chile + LATAM listo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17719"/>
            <a:ext cx="219456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7365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6177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47365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JWT + 2FA + SSO (roadmap)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46177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47365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Compatible Azure AD / Okta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74919"/>
            <a:ext cx="219456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1937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Observabilidad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0749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51937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Sentry + métricas internas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5074919"/>
            <a:ext cx="4572000" cy="457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51937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SLA medible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532119"/>
            <a:ext cx="219456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6509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Cumplimiento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55321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56509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DPA + Privacidad + RLS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5532119"/>
            <a:ext cx="4572000" cy="45720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0" y="5650991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GDPR-ready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07 ·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Oportunidad: HR Tech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Mercado creciendo a 17% CAGR, con clara brecha en mid-market.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118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11880" cy="4114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0B0F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4D87A"/>
                </a:solidFill>
                <a:latin typeface="Calibri"/>
              </a:rPr>
              <a:t>USD $4.8B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HR Tech LATAM (2025)
Gartner / Statista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6118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11880" cy="4114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0B0F"/>
                </a:solidFill>
                <a:latin typeface="Calibr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6032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4D87A"/>
                </a:solidFill>
                <a:latin typeface="Calibri"/>
              </a:rPr>
              <a:t>USD $620M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SaaS desempeño LATAM
mid-market · Mordor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6118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611880" cy="4114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65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0B0F"/>
                </a:solidFill>
                <a:latin typeface="Calibri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56032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4D87A"/>
                </a:solidFill>
                <a:latin typeface="Calibri"/>
              </a:rPr>
              <a:t>USD $18M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Chile + México + Colombia
3 años · bottom-up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Cliente ideal (ICP)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50–500 empleados · sectores servicios, retail, fintech, salud privada.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Geografía: Chile, México, Colombia, Perú.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Pain validado: ya intentaron Excel/Forms y fracasaron.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Trigger comercial: nueva regulación laboral (Ley 40 horas, NCh 3262 en Chile).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08 · 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Posicionamiento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Precio LATAM, IA nativa, multi-tenant moderno.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0320" cy="384048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COMPETIDOR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828800"/>
            <a:ext cx="2286000" cy="384048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9019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PRECIO/EMPL./MES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828800"/>
            <a:ext cx="2011680" cy="384048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90195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828800"/>
            <a:ext cx="2286000" cy="384048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019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MULTI-TENANT LATAM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828800"/>
            <a:ext cx="1920240" cy="384048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190195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IDIOMA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12848"/>
            <a:ext cx="256032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Lattice (US)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212848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2860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USD $11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212848"/>
            <a:ext cx="201168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28600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Limitada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212848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2860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212848"/>
            <a:ext cx="192024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2860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596896"/>
            <a:ext cx="256032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670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Culture Amp (AU)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596896"/>
            <a:ext cx="228600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26700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USD $14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596896"/>
            <a:ext cx="201168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67004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596896"/>
            <a:ext cx="228600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26700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2596896"/>
            <a:ext cx="192024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67004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80944"/>
            <a:ext cx="256032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54096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Bamboo HR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980944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0540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USD $9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2980944"/>
            <a:ext cx="201168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305409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980944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30540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2980944"/>
            <a:ext cx="192024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30540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Parcial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364992"/>
            <a:ext cx="256032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43814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Buk (CL)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364992"/>
            <a:ext cx="228600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34381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UF 0.4 + extras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364992"/>
            <a:ext cx="201168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43814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364992"/>
            <a:ext cx="228600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34381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364992"/>
            <a:ext cx="1920240" cy="384048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343814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749040"/>
            <a:ext cx="256032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382219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Rankmi (CL)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3749040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3822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 consultar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3749040"/>
            <a:ext cx="201168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382219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Limitada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749040"/>
            <a:ext cx="228600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3822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3749040"/>
            <a:ext cx="1920240" cy="384048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382219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Sí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133088"/>
            <a:ext cx="2560320" cy="384048"/>
          </a:xfrm>
          <a:prstGeom prst="rect">
            <a:avLst/>
          </a:prstGeom>
          <a:solidFill>
            <a:srgbClr val="8C6E1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42062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EVA360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4133088"/>
            <a:ext cx="2286000" cy="384048"/>
          </a:xfrm>
          <a:prstGeom prst="rect">
            <a:avLst/>
          </a:prstGeom>
          <a:solidFill>
            <a:srgbClr val="8C6E1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46120" y="420624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CLP $1.500–4.000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94960" y="4133088"/>
            <a:ext cx="2011680" cy="384048"/>
          </a:xfrm>
          <a:prstGeom prst="rect">
            <a:avLst/>
          </a:prstGeom>
          <a:solidFill>
            <a:srgbClr val="8C6E1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32120" y="420624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Claude nativa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4133088"/>
            <a:ext cx="2286000" cy="384048"/>
          </a:xfrm>
          <a:prstGeom prst="rect">
            <a:avLst/>
          </a:prstGeom>
          <a:solidFill>
            <a:srgbClr val="8C6E1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420624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Sí (RLS)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4133088"/>
            <a:ext cx="1920240" cy="384048"/>
          </a:xfrm>
          <a:prstGeom prst="rect">
            <a:avLst/>
          </a:prstGeom>
          <a:solidFill>
            <a:srgbClr val="8C6E1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29800" y="420624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es / en / pt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Tres ventajas defendibles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2120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Precio 3–5x menor que competidores US, ajustado al poder de compra LATAM.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IA generativa nativa (no add-on caro): insights automáticos en feedback, competencias y PDI.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Stack moderno + multi-tenant que escala sin rehacer la arquitectura.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09 ·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SaaS B2B con planes mensuales/anuales por número de empleados.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974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4D87A"/>
                </a:solidFill>
                <a:latin typeface="Calibr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8A92"/>
                </a:solidFill>
                <a:latin typeface="Calibri"/>
              </a:rPr>
              <a:t>Hasta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4D87A"/>
                </a:solidFill>
                <a:latin typeface="Calibri"/>
              </a:rPr>
              <a:t>$200.000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8A92"/>
                </a:solidFill>
                <a:latin typeface="Calibri"/>
              </a:rPr>
              <a:t>CLP /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$2.4M ARR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6974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4D87A"/>
                </a:solidFill>
                <a:latin typeface="Calibri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8A92"/>
                </a:solidFill>
                <a:latin typeface="Calibri"/>
              </a:rPr>
              <a:t>Hasta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4D87A"/>
                </a:solidFill>
                <a:latin typeface="Calibri"/>
              </a:rPr>
              <a:t>$800.000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8A92"/>
                </a:solidFill>
                <a:latin typeface="Calibri"/>
              </a:rPr>
              <a:t>CLP /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5204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$9.6M ARR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2697480" cy="2194560"/>
          </a:xfrm>
          <a:prstGeom prst="rect">
            <a:avLst/>
          </a:prstGeom>
          <a:solidFill>
            <a:srgbClr val="8C6E1F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0B0F"/>
                </a:solidFill>
                <a:latin typeface="Calibri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B0B0F"/>
                </a:solidFill>
                <a:latin typeface="Calibri"/>
              </a:rPr>
              <a:t>Hasta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0B0F"/>
                </a:solidFill>
                <a:latin typeface="Calibri"/>
              </a:rPr>
              <a:t>$2.000.000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B0B0F"/>
                </a:solidFill>
                <a:latin typeface="Calibri"/>
              </a:rPr>
              <a:t>CLP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5204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0B0F"/>
                </a:solidFill>
                <a:latin typeface="Calibri"/>
              </a:rPr>
              <a:t>$24M ARR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828800"/>
            <a:ext cx="2697480" cy="21945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011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4D87A"/>
                </a:solidFill>
                <a:latin typeface="Calibri"/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3774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8A92"/>
                </a:solidFill>
                <a:latin typeface="Calibri"/>
              </a:rPr>
              <a:t>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78892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4D87A"/>
                </a:solidFill>
                <a:latin typeface="Calibri"/>
              </a:rPr>
              <a:t>Custom (UF)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2004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8A92"/>
                </a:solidFill>
                <a:latin typeface="Calibri"/>
              </a:rPr>
              <a:t>CLP / 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5204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$50M+ ARR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D87A"/>
                </a:solidFill>
                <a:latin typeface="Calibri"/>
              </a:rPr>
              <a:t>Unit economics objetivo · mes 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2194560" cy="12801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57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$800.000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754880"/>
            <a:ext cx="2194560" cy="12801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LTV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257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$14.000.000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754880"/>
            <a:ext cx="2194560" cy="12801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LTV/CAC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57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17.5x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754880"/>
            <a:ext cx="2194560" cy="12801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Payback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257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 meses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4754880"/>
            <a:ext cx="2194560" cy="128016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Gross margin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2578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10 · TRACCIÓN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Estado actual y próximos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Producto listo. Comercial en aceleración.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Plataforma operativa: 39 controllers + 30 páginas UI.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78 entidades de dominio modeladas.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Integración productiva con Anthropic Claude.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Documentación legal completa.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PWA + push + 2FA + auditoría.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Multi-tenant con RLS validado.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COMERCIAL · ACTUALIZAR AL PRESENTAR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[N] tenants demo activos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[N] clientes pagados (pilots o suscripción)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[MRR] CLP MRR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[N] leads en pipeline desde landing pública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● </a:t>
            </a:r>
            <a:r>
              <a:rPr sz="1200">
                <a:solidFill>
                  <a:srgbClr val="C8C8CF"/>
                </a:solidFill>
                <a:latin typeface="Calibri"/>
              </a:rPr>
              <a:t>[N] integraciones con 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12080"/>
            <a:ext cx="11091672" cy="118872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54864" cy="1188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D87A"/>
                </a:solidFill>
                <a:latin typeface="Calibri"/>
              </a:rPr>
              <a:t>PRÓXIMOS 12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SSO SAML + SCIM  ·  Slack + Teams  ·  ISO 27001 (Etapa 1)  ·  Expansión piloto México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11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Roadmap a 12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8 hitos verificables · KPI de cierre: 15+ clientes, MRR USD $8.000+, NPS 80.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371600" cy="41148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TRIMESTRE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828800"/>
            <a:ext cx="4114800" cy="41148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920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HITO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6035040" cy="41148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92024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0F"/>
                </a:solidFill>
                <a:latin typeface="Calibri"/>
              </a:rPr>
              <a:t>RESULTADO VERIFICABLE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13716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240280"/>
            <a:ext cx="41148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331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SSO SAML + SCIM enterprise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40280"/>
            <a:ext cx="603504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3317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Compatible Azure AD, Okta, Google Workspace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13716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43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651760"/>
            <a:ext cx="41148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743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Integraciones Slack + Teams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651760"/>
            <a:ext cx="603504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74320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App publicada en Slack Marketplace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63240"/>
            <a:ext cx="13716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546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Q1–Q2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063240"/>
            <a:ext cx="41148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154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Landing + SEO +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063240"/>
            <a:ext cx="603504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15468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5 case studies + 1.000 sesiones/mes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74720"/>
            <a:ext cx="13716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Q2–Q3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3474720"/>
            <a:ext cx="41148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5661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Outbound + ABM mid-market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474720"/>
            <a:ext cx="603504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56616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10 demos calificadas/mes + 3 pilots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86200"/>
            <a:ext cx="13716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9776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886200"/>
            <a:ext cx="41148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977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ISO 27001 (Etapa 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886200"/>
            <a:ext cx="603504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97764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Auditoría inicial completada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97680"/>
            <a:ext cx="13716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389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Q3–Q4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4297680"/>
            <a:ext cx="41148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3891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Expansión México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297680"/>
            <a:ext cx="603504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3891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2 clientes en CDMX cerrados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09160"/>
            <a:ext cx="13716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800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709160"/>
            <a:ext cx="411480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800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App nativa iOS / Android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709160"/>
            <a:ext cx="6035040" cy="41148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80060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Publicación en App Store + Play Store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20640"/>
            <a:ext cx="13716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2120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Q4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5120640"/>
            <a:ext cx="411480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5212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D87A"/>
                </a:solidFill>
                <a:latin typeface="Calibri"/>
              </a:rPr>
              <a:t>API pública + Marketplace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5120640"/>
            <a:ext cx="6035040" cy="411480"/>
          </a:xfrm>
          <a:prstGeom prst="rect">
            <a:avLst/>
          </a:prstGeom>
          <a:solidFill>
            <a:srgbClr val="0B0B0F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521208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8C8CF"/>
                </a:solidFill>
                <a:latin typeface="Calibri"/>
              </a:rPr>
              <a:t>3 integraciones de partners activas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12 ·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Quiénes lo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8C8CF"/>
                </a:solidFill>
                <a:latin typeface="Calibri"/>
              </a:rPr>
              <a:t>Experiencia técnica enterprise + conocimiento del mercado HR LATAM.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657600" cy="2743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148839"/>
            <a:ext cx="914400" cy="914400"/>
          </a:xfrm>
          <a:prstGeom prst="ellipse">
            <a:avLst/>
          </a:prstGeom>
          <a:solidFill>
            <a:srgbClr val="D4AF37"/>
          </a:solidFill>
          <a:ln>
            <a:solidFill>
              <a:srgbClr val="F4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0B0B0F"/>
                </a:solidFill>
              </a:rPr>
              <a:t>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Ricardo Ascenda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Founder · CEO ·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19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Líder técnico y producto. Diseñó la arquitectura multi-tenant y la integración IA. Visión de negocio HR LATAM.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657600" cy="2743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2148839"/>
            <a:ext cx="914400" cy="914400"/>
          </a:xfrm>
          <a:prstGeom prst="ellipse">
            <a:avLst/>
          </a:prstGeom>
          <a:solidFill>
            <a:srgbClr val="D4AF37"/>
          </a:solidFill>
          <a:ln>
            <a:solidFill>
              <a:srgbClr val="F4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0B0B0F"/>
                </a:solidFill>
              </a:rP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54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Backend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520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NestJS · TypeORM ·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619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Responsable de API, ciclos de evaluación, motor de objetivos y auditoría cross-tenant.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3657600" cy="27432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2148839"/>
            <a:ext cx="914400" cy="914400"/>
          </a:xfrm>
          <a:prstGeom prst="ellipse">
            <a:avLst/>
          </a:prstGeom>
          <a:solidFill>
            <a:srgbClr val="D4AF37"/>
          </a:solidFill>
          <a:ln>
            <a:solidFill>
              <a:srgbClr val="F4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0B0B0F"/>
                </a:solidFill>
              </a:rPr>
              <a:t>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154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Full-stack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2043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Next.js · React ·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8619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C8CF"/>
                </a:solidFill>
                <a:latin typeface="Calibri"/>
              </a:rPr>
              <a:t>Responsable de UI, PWA, dashboards de líder y RR.HH., experiencia mobile.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91672" cy="137160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54864" cy="1371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D87A"/>
                </a:solidFill>
                <a:latin typeface="Calibri"/>
              </a:rPr>
              <a:t>POR QUÉ SOMOS LOS INDICADOS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8C8CF"/>
                </a:solidFill>
                <a:latin typeface="Calibri"/>
              </a:rPr>
              <a:t>Ya construimos lo difícil — multi-tenant, IA integrada y ciclos completos de evaluación.
Ahora aceleramos go-to-market regional con una plataforma diseñada para LATAM.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13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4D87A"/>
                </a:solidFill>
                <a:latin typeface="Calibri"/>
              </a:rPr>
              <a:t>EVA360 ya existe. Funciona. Lo difícil está hecho.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2004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00" cy="2377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PARA NUEVOS 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8C8CF"/>
                </a:solidFill>
                <a:latin typeface="Calibri"/>
              </a:rPr>
              <a:t>Empieza a evaluar a tu equipo de forma justa, rápida y con datos accionables. Demo gratuita en 15 minutos. Onboarding asistido en menos de una semana.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D87A"/>
                </a:solidFill>
                <a:latin typeface="Calibri"/>
              </a:rPr>
              <a:t>→ eva360.ascenda.cl/demo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486400" cy="2377440"/>
          </a:xfrm>
          <a:prstGeom prst="rect">
            <a:avLst/>
          </a:prstGeom>
          <a:solidFill>
            <a:srgbClr val="16161C"/>
          </a:solidFill>
          <a:ln w="9525">
            <a:solidFill>
              <a:srgbClr val="8C6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73152" cy="2377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PARA INVERSIONISTAS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8C8CF"/>
                </a:solidFill>
                <a:latin typeface="Calibri"/>
              </a:rPr>
              <a:t>Levantamos capital semilla para acelerar go-to-market en Chile + México y consolidar tracción regional en 18 meses. Producto listo, mercado validado.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D87A"/>
                </a:solidFill>
                <a:latin typeface="Calibri"/>
              </a:rPr>
              <a:t>→ ricardo@ascenda.cl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B0B0F"/>
                </a:solidFill>
                <a:latin typeface="Calibri"/>
              </a:rPr>
              <a:t>Build nos da el combustible para pasar de MVP demostrable a negocio sostenible.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0B0F"/>
                </a:solidFill>
                <a:latin typeface="Calibri"/>
              </a:rPr>
              <a:t>ricardo@ascenda.cl   ·   ascenda.cl   ·   eva360.ascenda.cl   ·   Santiago, Chile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8C6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A92"/>
                </a:solidFill>
                <a:latin typeface="Calibri"/>
              </a:rPr>
              <a:t>EVA360 · Ascenda SpA · Confidencial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629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